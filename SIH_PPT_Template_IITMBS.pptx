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HBK0+BR7yPPUYdql/sIZ3VDht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0607053" y="178425"/>
            <a:ext cx="1363200" cy="1380600"/>
          </a:xfrm>
          <a:prstGeom prst="ellipse">
            <a:avLst/>
          </a:prstGeom>
          <a:solidFill>
            <a:srgbClr val="23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566928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SMART INDIA HACKATHON   ·   INTERNAL HACKATHON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59382" y="539471"/>
            <a:ext cx="658500" cy="6585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1753" y="621829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965960"/>
            <a:ext cx="10607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[ Problem Statement Title ]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81635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8F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CBD8F5"/>
                </a:solidFill>
                <a:latin typeface="Calibri"/>
                <a:ea typeface="Calibri"/>
                <a:cs typeface="Calibri"/>
                <a:sym typeface="Calibri"/>
              </a:rPr>
              <a:t>Replace with the exact title of your selected SIH problem statement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611880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49808" y="3694176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PROBLEM STATEMENT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904488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PS Code, e.g. SIH1234 ]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897880" y="3611880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099048" y="3694176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99048" y="3904488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Theme name from the SIH portal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4416552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749808" y="4498848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49808" y="4709160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Software / Hardware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897880" y="4416552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099048" y="4498848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99048" y="4709160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Your registered team name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48640" y="5221224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749808" y="5303520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TEAM LEADER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749808" y="5513832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897880" y="5221224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099048" y="5303520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INSTITUTE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099048" y="5513832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IIT Madras BS Degree Programme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548640" y="6272784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2C34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/>
          <p:nvPr/>
        </p:nvSpPr>
        <p:spPr>
          <a:xfrm>
            <a:off x="548640" y="6382512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1000" u="none" cap="none" strike="noStrike">
                <a:solidFill>
                  <a:srgbClr val="CBD8F5"/>
                </a:solidFill>
                <a:latin typeface="Calibri"/>
                <a:ea typeface="Calibri"/>
                <a:cs typeface="Calibri"/>
                <a:sym typeface="Calibri"/>
              </a:rPr>
              <a:t>   ·   Presentation Template, Round 3 SIH Internal Hackathon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Team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52" name="Google Shape;5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2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List your Team Leader and all 5 team members with their role or area of contribution.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Keep roles specific (e.g. 'Backend &amp; APIs', 'UI/UX design') rather than generic.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This slide helps judges understand who did what and the team's overall skill mix.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Every team has exactly six members - all six rows must be filled 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309360" y="1417320"/>
            <a:ext cx="521208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309360" y="1417320"/>
            <a:ext cx="5212080" cy="365760"/>
          </a:xfrm>
          <a:prstGeom prst="roundRect">
            <a:avLst>
              <a:gd fmla="val 2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309360" y="1600200"/>
            <a:ext cx="5212080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528816" y="14173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8083296" y="14173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820656" y="1417320"/>
            <a:ext cx="148132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 / Contribution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528816" y="178308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Team Leader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8083296" y="178308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9820656" y="178308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2"/>
          <p:cNvCxnSpPr/>
          <p:nvPr/>
        </p:nvCxnSpPr>
        <p:spPr>
          <a:xfrm>
            <a:off x="6309360" y="252222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2"/>
          <p:cNvSpPr/>
          <p:nvPr/>
        </p:nvSpPr>
        <p:spPr>
          <a:xfrm>
            <a:off x="6309360" y="252222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528816" y="252222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083296" y="252222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820656" y="252222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2"/>
          <p:cNvCxnSpPr/>
          <p:nvPr/>
        </p:nvCxnSpPr>
        <p:spPr>
          <a:xfrm>
            <a:off x="6309360" y="326136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2"/>
          <p:cNvSpPr/>
          <p:nvPr/>
        </p:nvSpPr>
        <p:spPr>
          <a:xfrm>
            <a:off x="6528816" y="326136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083296" y="326136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9820656" y="326136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"/>
          <p:cNvCxnSpPr/>
          <p:nvPr/>
        </p:nvCxnSpPr>
        <p:spPr>
          <a:xfrm>
            <a:off x="6309360" y="400050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2"/>
          <p:cNvSpPr/>
          <p:nvPr/>
        </p:nvSpPr>
        <p:spPr>
          <a:xfrm>
            <a:off x="6309360" y="400050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528816" y="400050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8083296" y="400050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9820656" y="400050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2"/>
          <p:cNvCxnSpPr/>
          <p:nvPr/>
        </p:nvCxnSpPr>
        <p:spPr>
          <a:xfrm>
            <a:off x="6309360" y="473964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2"/>
          <p:cNvSpPr/>
          <p:nvPr/>
        </p:nvSpPr>
        <p:spPr>
          <a:xfrm>
            <a:off x="6528816" y="473964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8083296" y="473964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9820656" y="473964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2"/>
          <p:cNvCxnSpPr/>
          <p:nvPr/>
        </p:nvCxnSpPr>
        <p:spPr>
          <a:xfrm>
            <a:off x="6309360" y="547878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2"/>
          <p:cNvSpPr/>
          <p:nvPr/>
        </p:nvSpPr>
        <p:spPr>
          <a:xfrm>
            <a:off x="6309360" y="547878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528816" y="5478780"/>
            <a:ext cx="155448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6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8083296" y="5478780"/>
            <a:ext cx="1737360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Full name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9820656" y="5478780"/>
            <a:ext cx="1481328" cy="7391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Role / contribution 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01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Idea / Approach / Proposed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3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Restate the problem in your own words: what gap or pain point are you solving?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Describe your proposed solution or idea clearly and concisely.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Explain how your solution addresses the problem end to end.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Call out what is innovative or unique (USP) about your approach compared to existing solutions.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Keep this slide conceptual, and save technology and architecture detail for Section 04.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309360" y="1417320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528816" y="1636776"/>
            <a:ext cx="457200" cy="4572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528816" y="1636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168896" y="16002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168896" y="196596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Summarize the core problem from the PS in 2–3 lines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309360" y="3136392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528816" y="3355848"/>
            <a:ext cx="457200" cy="4572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6528816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168896" y="3319272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7168896" y="3685032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Describe your proposed idea / approach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309360" y="4855464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528816" y="5074920"/>
            <a:ext cx="457200" cy="4572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6528816" y="5074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7168896" y="503834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Makes It Different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7168896" y="5404104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State your unique value proposition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02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3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Novelty and Uniqueness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4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4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Name the existing solutions or alternatives that address this problem today.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State plainly what is genuinely new about your approach, not just a feature list.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Explain why existing solutions fall short, and how you close that gap.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This is one of the criteria judges score directly, so be concrete rather than generic.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6309360" y="1417320"/>
            <a:ext cx="5212080" cy="2240280"/>
          </a:xfrm>
          <a:prstGeom prst="roundRect">
            <a:avLst>
              <a:gd fmla="val 3673" name="adj"/>
            </a:avLst>
          </a:prstGeom>
          <a:solidFill>
            <a:srgbClr val="FCF1F0"/>
          </a:solidFill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565392" y="1600200"/>
            <a:ext cx="4700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EXISTING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6565392" y="1901952"/>
            <a:ext cx="4700016" cy="0"/>
          </a:xfrm>
          <a:prstGeom prst="straightConnector1">
            <a:avLst/>
          </a:prstGeom>
          <a:noFill/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6565392" y="2029968"/>
            <a:ext cx="4700016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Existing solution / competitor 1 and its limitation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Existing solution / competitor 2 and its limitation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Existing solution / competitor 3 and its limitation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309360" y="3840480"/>
            <a:ext cx="5212080" cy="2377440"/>
          </a:xfrm>
          <a:prstGeom prst="roundRect">
            <a:avLst>
              <a:gd fmla="val 3462" name="adj"/>
            </a:avLst>
          </a:prstGeom>
          <a:solidFill>
            <a:srgbClr val="EFF7F1"/>
          </a:solidFill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6565392" y="4023360"/>
            <a:ext cx="4700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5C33"/>
                </a:solidFill>
                <a:latin typeface="Calibri"/>
                <a:ea typeface="Calibri"/>
                <a:cs typeface="Calibri"/>
                <a:sym typeface="Calibri"/>
              </a:rPr>
              <a:t>WHAT'S GENUINELY NEW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4"/>
          <p:cNvCxnSpPr/>
          <p:nvPr/>
        </p:nvCxnSpPr>
        <p:spPr>
          <a:xfrm>
            <a:off x="6565392" y="4325112"/>
            <a:ext cx="4700016" cy="0"/>
          </a:xfrm>
          <a:prstGeom prst="straightConnector1">
            <a:avLst/>
          </a:prstGeom>
          <a:noFill/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4"/>
          <p:cNvSpPr/>
          <p:nvPr/>
        </p:nvSpPr>
        <p:spPr>
          <a:xfrm>
            <a:off x="6565392" y="4453128"/>
            <a:ext cx="4700016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Your unique approach / mechanism / insight 1 ]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Your unique approach / mechanism / insight 2 ]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Why this closes the gap left by existing solutions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03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4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Technical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167" name="Google Shape;16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5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5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List the technologies, frameworks, and tools you plan to use, and why.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Describe your methodology or process flow, how the solution works step by step.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Include a system architecture or workflow diagram if you have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Mention any prototype, wireframe, or proof-of-concept already built.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 specific: reviewers should be able to picture how this gets built.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309360" y="1444752"/>
            <a:ext cx="5212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SUGGESTED: PROCESS FLOW DIAGRAM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309360" y="1847088"/>
            <a:ext cx="82296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309360" y="1847088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[ Input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132320" y="1847088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406640" y="1847088"/>
            <a:ext cx="82296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7406640" y="1847088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[ Process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8229600" y="1847088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8503920" y="1847088"/>
            <a:ext cx="82296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8503920" y="1847088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[ Logic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9326880" y="1847088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601200" y="1847088"/>
            <a:ext cx="82296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9601200" y="1847088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[ Output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0424160" y="1847088"/>
            <a:ext cx="274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0698480" y="1847088"/>
            <a:ext cx="82296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10698480" y="1847088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[ User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309360" y="3035808"/>
            <a:ext cx="5212080" cy="3182112"/>
          </a:xfrm>
          <a:prstGeom prst="roundRect">
            <a:avLst>
              <a:gd fmla="val 2586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6565392" y="3218688"/>
            <a:ext cx="47000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5"/>
          <p:cNvCxnSpPr/>
          <p:nvPr/>
        </p:nvCxnSpPr>
        <p:spPr>
          <a:xfrm>
            <a:off x="6565392" y="3529584"/>
            <a:ext cx="4700016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5"/>
          <p:cNvSpPr/>
          <p:nvPr/>
        </p:nvSpPr>
        <p:spPr>
          <a:xfrm>
            <a:off x="6565392" y="3675888"/>
            <a:ext cx="4700016" cy="2423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Frontend: ...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Backend: ...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Database: ...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AI/ML or other core tech: ...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Hosting / deployment: ...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04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Feasibility and Viability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206" name="Google Shape;2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6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6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Assess how practical and achievable your solution is with realistic effort and resources.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Identify potential challenges or risks: technical, operational, or adoption-related.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Describe concrete strategies to overcome each risk.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Reviewers weigh this heavily; an honest, thought-out answer beats an overly optimistic 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309360" y="1417320"/>
            <a:ext cx="2468880" cy="4800600"/>
          </a:xfrm>
          <a:prstGeom prst="roundRect">
            <a:avLst>
              <a:gd fmla="val 3333" name="adj"/>
            </a:avLst>
          </a:prstGeom>
          <a:solidFill>
            <a:srgbClr val="FCF1F0"/>
          </a:solidFill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6547104" y="1645920"/>
            <a:ext cx="402336" cy="402336"/>
          </a:xfrm>
          <a:prstGeom prst="ellipse">
            <a:avLst/>
          </a:prstGeom>
          <a:solidFill>
            <a:srgbClr val="781F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547104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095744" y="15727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Potential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6583680" y="2331720"/>
            <a:ext cx="19202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Risk / challenge 1 ]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Risk / challenge 2 ]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6B4A48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6B4A48"/>
                </a:solidFill>
                <a:latin typeface="Calibri"/>
                <a:ea typeface="Calibri"/>
                <a:cs typeface="Calibri"/>
                <a:sym typeface="Calibri"/>
              </a:rPr>
              <a:t>[ Risk / challenge 3 ]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9052560" y="1417320"/>
            <a:ext cx="2468880" cy="4800600"/>
          </a:xfrm>
          <a:prstGeom prst="roundRect">
            <a:avLst>
              <a:gd fmla="val 3333" name="adj"/>
            </a:avLst>
          </a:prstGeom>
          <a:solidFill>
            <a:srgbClr val="EFF7F1"/>
          </a:solidFill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9290304" y="1645920"/>
            <a:ext cx="402336" cy="402336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9290304" y="16459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9838944" y="1572768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5C33"/>
                </a:solidFill>
                <a:latin typeface="Calibri"/>
                <a:ea typeface="Calibri"/>
                <a:cs typeface="Calibri"/>
                <a:sym typeface="Calibri"/>
              </a:rPr>
              <a:t>Mitigation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5C33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9326880" y="2331720"/>
            <a:ext cx="192024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How you'll address risk 1 ]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How you'll address risk 2 ]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436B4E"/>
              </a:buClr>
              <a:buSzPts val="1200"/>
              <a:buFont typeface="Calibri"/>
              <a:buChar char="•"/>
            </a:pPr>
            <a:r>
              <a:rPr b="0" i="1" lang="en-US" sz="1200" u="none" cap="none" strike="noStrike">
                <a:solidFill>
                  <a:srgbClr val="436B4E"/>
                </a:solidFill>
                <a:latin typeface="Calibri"/>
                <a:ea typeface="Calibri"/>
                <a:cs typeface="Calibri"/>
                <a:sym typeface="Calibri"/>
              </a:rPr>
              <a:t>[ How you'll address risk 3 ]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05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6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Impact and Benefits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236" name="Google Shape;2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7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1" name="Google Shape;241;p7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7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Describe who your target audience or beneficiaries 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Explain the direct impact your solution creates for them.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Cover the broader benefits: social, economic, and/or environmental.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Where possible, quantify the impact (e.g. time saved, people reached, cost reduced).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6309360" y="1417320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528816" y="1636776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6528816" y="16367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7168896" y="160020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Social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7168896" y="1965960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Who benefits, and how their lives / work improve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309360" y="3136392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528816" y="3355848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6528816" y="33558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7168896" y="3319272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Economic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168896" y="3685032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Cost savings, revenue potential, market opportunity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309360" y="4855464"/>
            <a:ext cx="5212080" cy="1536192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528816" y="5074920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528816" y="5074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7168896" y="503834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Environmental Impact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7168896" y="5404104"/>
            <a:ext cx="4160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Sustainability or environmental angle, if applicable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06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7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Research and 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271" name="Google Shape;27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8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List the research papers, articles, datasets, or existing products you referred 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Cite sources properly; this establishes credibility and shows genuine groundwork.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Include links to any government reports, market studies, or technical documentation used.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If you benchmarked against existing solutions, name them here.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6309360" y="1417320"/>
            <a:ext cx="521208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6583680" y="1627632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8"/>
          <p:cNvCxnSpPr/>
          <p:nvPr/>
        </p:nvCxnSpPr>
        <p:spPr>
          <a:xfrm>
            <a:off x="6583680" y="1956816"/>
            <a:ext cx="466344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8"/>
          <p:cNvSpPr/>
          <p:nvPr/>
        </p:nvSpPr>
        <p:spPr>
          <a:xfrm>
            <a:off x="6583680" y="2121408"/>
            <a:ext cx="46634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[ 1. Author / Source, Title, Year, link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[ 2. Author / Source, Title, Year, link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[ 3. Author / Source, Title, Year, link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[ 4. Author / Source, Title, Year, link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666B74"/>
              </a:buClr>
              <a:buSzPts val="1250"/>
              <a:buFont typeface="Calibri"/>
              <a:buChar char="•"/>
            </a:pPr>
            <a:r>
              <a:rPr b="0" i="1" lang="en-US" sz="125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[ 5. Author / Source, Title, Year, link ]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07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8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Solution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iitm_bs_logo.png" id="295" name="Google Shape;2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9"/>
          <p:cNvSpPr/>
          <p:nvPr/>
        </p:nvSpPr>
        <p:spPr>
          <a:xfrm>
            <a:off x="548640" y="1417320"/>
            <a:ext cx="5029200" cy="4800600"/>
          </a:xfrm>
          <a:prstGeom prst="roundRect">
            <a:avLst>
              <a:gd fmla="val 1714" name="adj"/>
            </a:avLst>
          </a:prstGeom>
          <a:solidFill>
            <a:srgbClr val="FBF7EA"/>
          </a:solidFill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D6A6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768096" y="161848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207008" y="161848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HOW TO USE THIS SLIDE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>
            <a:off x="804672" y="2093976"/>
            <a:ext cx="4517136" cy="0"/>
          </a:xfrm>
          <a:prstGeom prst="straightConnector1">
            <a:avLst/>
          </a:prstGeom>
          <a:noFill/>
          <a:ln cap="flat" cmpd="sng" w="12700">
            <a:solidFill>
              <a:srgbClr val="E9DFC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p9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Condense the problem and your solution into one line each, in plain language.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Fill in one clear line per criterion - this slide should let a judge evaluate your idea and solution at a glance, without flipping back through the deck.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 honest and specific here; vague or overly broad claims are easy for judges to spot.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This is the slide judges are most likely to score you against directly.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309360" y="1417320"/>
            <a:ext cx="521208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309360" y="1417320"/>
            <a:ext cx="5212080" cy="365760"/>
          </a:xfrm>
          <a:prstGeom prst="roundRect">
            <a:avLst>
              <a:gd fmla="val 2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6309360" y="1600200"/>
            <a:ext cx="5212080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6528816" y="1417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8357616" y="1417320"/>
            <a:ext cx="29443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6528816" y="1783080"/>
            <a:ext cx="18288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8357616" y="1783080"/>
            <a:ext cx="29443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The problem, in one line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9"/>
          <p:cNvCxnSpPr/>
          <p:nvPr/>
        </p:nvCxnSpPr>
        <p:spPr>
          <a:xfrm>
            <a:off x="6309360" y="2670048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/>
          <p:nvPr/>
        </p:nvSpPr>
        <p:spPr>
          <a:xfrm>
            <a:off x="6309360" y="2670048"/>
            <a:ext cx="5212080" cy="88696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6528816" y="2670048"/>
            <a:ext cx="18288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8357616" y="2670048"/>
            <a:ext cx="29443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Your solution, in one line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9"/>
          <p:cNvCxnSpPr/>
          <p:nvPr/>
        </p:nvCxnSpPr>
        <p:spPr>
          <a:xfrm>
            <a:off x="6309360" y="3557016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9"/>
          <p:cNvSpPr/>
          <p:nvPr/>
        </p:nvSpPr>
        <p:spPr>
          <a:xfrm>
            <a:off x="6528816" y="3557016"/>
            <a:ext cx="18288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Novelty / USP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8357616" y="3557016"/>
            <a:ext cx="29443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What's genuinely new about it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6" name="Google Shape;316;p9"/>
          <p:cNvCxnSpPr/>
          <p:nvPr/>
        </p:nvCxnSpPr>
        <p:spPr>
          <a:xfrm>
            <a:off x="6309360" y="4443984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9"/>
          <p:cNvSpPr/>
          <p:nvPr/>
        </p:nvSpPr>
        <p:spPr>
          <a:xfrm>
            <a:off x="6309360" y="4443984"/>
            <a:ext cx="5212080" cy="88696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6528816" y="4443984"/>
            <a:ext cx="18288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357616" y="4443984"/>
            <a:ext cx="29443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Why it's realistically buildable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9"/>
          <p:cNvCxnSpPr/>
          <p:nvPr/>
        </p:nvCxnSpPr>
        <p:spPr>
          <a:xfrm>
            <a:off x="6309360" y="5330952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1" name="Google Shape;321;p9"/>
          <p:cNvSpPr/>
          <p:nvPr/>
        </p:nvSpPr>
        <p:spPr>
          <a:xfrm>
            <a:off x="6528816" y="5330952"/>
            <a:ext cx="18288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8357616" y="5330952"/>
            <a:ext cx="2944368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[ Who benefits, and how 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Hackathon, Presentation Template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08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9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2026-08-24T21:15:17Z</dcterms:created>
  <dc:creator>PptxGenJS</dc:creator>
</cp:coreProperties>
</file>